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a433e7ea0e40fc" /><Relationship Type="http://schemas.openxmlformats.org/officeDocument/2006/relationships/extended-properties" Target="/docProps/app.xml" Id="R18ad534dbf074398" /><Relationship Type="http://schemas.openxmlformats.org/officeDocument/2006/relationships/officeDocument" Target="/ppt/presentation.xml" Id="R0555b3dbddff45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41c98dd90a483e"/>
  </p:sldMasterIdLst>
  <p:notesMasterIdLst>
    <p:notesMasterId xmlns:r="http://schemas.openxmlformats.org/officeDocument/2006/relationships" r:id="R96199c7d3ae0468e"/>
  </p:notesMasterIdLst>
  <p:sldIdLst>
    <p:sldId xmlns:r="http://schemas.openxmlformats.org/officeDocument/2006/relationships" id="256" r:id="Rda3c01fbe7c743c3"/>
    <p:sldId xmlns:r="http://schemas.openxmlformats.org/officeDocument/2006/relationships" id="257" r:id="R0c4b094836a54a98"/>
    <p:sldId xmlns:r="http://schemas.openxmlformats.org/officeDocument/2006/relationships" id="258" r:id="R8995b835eea84464"/>
    <p:sldId xmlns:r="http://schemas.openxmlformats.org/officeDocument/2006/relationships" id="259" r:id="Rdac6c36bcb1342b6"/>
    <p:sldId xmlns:r="http://schemas.openxmlformats.org/officeDocument/2006/relationships" id="260" r:id="Re8a4441964ea4b1d"/>
    <p:sldId xmlns:r="http://schemas.openxmlformats.org/officeDocument/2006/relationships" id="261" r:id="Rf797c84082864cbb"/>
    <p:sldId xmlns:r="http://schemas.openxmlformats.org/officeDocument/2006/relationships" id="262" r:id="Rfd61614b1d494ea5"/>
    <p:sldId xmlns:r="http://schemas.openxmlformats.org/officeDocument/2006/relationships" id="263" r:id="Rfdf6df51861548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491f994614e21" /><Relationship Type="http://schemas.openxmlformats.org/officeDocument/2006/relationships/slideMaster" Target="/ppt/slideMasters/slideMaster1.xml" Id="Rbe41c98dd90a483e" /><Relationship Type="http://schemas.openxmlformats.org/officeDocument/2006/relationships/notesMaster" Target="/ppt/notesMasters/notesMaster1.xml" Id="R96199c7d3ae0468e" /><Relationship Type="http://schemas.openxmlformats.org/officeDocument/2006/relationships/presProps" Target="/ppt/presProps.xml" Id="R4ae5ff27023f450d" /><Relationship Type="http://schemas.openxmlformats.org/officeDocument/2006/relationships/tableStyles" Target="/ppt/tableStyles.xml" Id="R51f36813102642fd" /><Relationship Type="http://schemas.openxmlformats.org/officeDocument/2006/relationships/slide" Target="/ppt/slides/slide1.xml" Id="Rda3c01fbe7c743c3" /><Relationship Type="http://schemas.openxmlformats.org/officeDocument/2006/relationships/slide" Target="/ppt/slides/slide2.xml" Id="R0c4b094836a54a98" /><Relationship Type="http://schemas.openxmlformats.org/officeDocument/2006/relationships/slide" Target="/ppt/slides/slide3.xml" Id="R8995b835eea84464" /><Relationship Type="http://schemas.openxmlformats.org/officeDocument/2006/relationships/slide" Target="/ppt/slides/slide4.xml" Id="Rdac6c36bcb1342b6" /><Relationship Type="http://schemas.openxmlformats.org/officeDocument/2006/relationships/slide" Target="/ppt/slides/slide5.xml" Id="Re8a4441964ea4b1d" /><Relationship Type="http://schemas.openxmlformats.org/officeDocument/2006/relationships/slide" Target="/ppt/slides/slide6.xml" Id="Rf797c84082864cbb" /><Relationship Type="http://schemas.openxmlformats.org/officeDocument/2006/relationships/slide" Target="/ppt/slides/slide7.xml" Id="Rfd61614b1d494ea5" /><Relationship Type="http://schemas.openxmlformats.org/officeDocument/2006/relationships/slide" Target="/ppt/slides/slide8.xml" Id="Rfdf6df51861548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c8a17b2d9c42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12ea8e584b4e96" /><Relationship Type="http://schemas.openxmlformats.org/officeDocument/2006/relationships/notesMaster" Target="/ppt/notesMasters/notesMaster1.xml" Id="R11f26d7493e14c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c390f120574970" /><Relationship Type="http://schemas.openxmlformats.org/officeDocument/2006/relationships/notesMaster" Target="/ppt/notesMasters/notesMaster1.xml" Id="Rd07f4b6489c845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a0da16c1984c6a" /><Relationship Type="http://schemas.openxmlformats.org/officeDocument/2006/relationships/notesMaster" Target="/ppt/notesMasters/notesMaster1.xml" Id="R5225dcf5bf4140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2839b86dce4149" /><Relationship Type="http://schemas.openxmlformats.org/officeDocument/2006/relationships/notesMaster" Target="/ppt/notesMasters/notesMaster1.xml" Id="R14319299507b41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037a605ef24aa7" /><Relationship Type="http://schemas.openxmlformats.org/officeDocument/2006/relationships/notesMaster" Target="/ppt/notesMasters/notesMaster1.xml" Id="Re8e0ef18d9cd4a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93b01e666746fd" /><Relationship Type="http://schemas.openxmlformats.org/officeDocument/2006/relationships/notesMaster" Target="/ppt/notesMasters/notesMaster1.xml" Id="R90a9db69a0d549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4c58bca11442e1" /><Relationship Type="http://schemas.openxmlformats.org/officeDocument/2006/relationships/notesMaster" Target="/ppt/notesMasters/notesMaster1.xml" Id="Ra453eed12e5142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9942a7f1e24432" /><Relationship Type="http://schemas.openxmlformats.org/officeDocument/2006/relationships/notesMaster" Target="/ppt/notesMasters/notesMaster1.xml" Id="Ra7b4dd88ac0f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Thoma (2018), WiLI benchmark dataset: https://arxiv.org/abs/1801.07779</a:t>
            </a:r>
          </a:p>
          <a:p xmlns:a="http://schemas.openxmlformats.org/drawingml/2006/main">
            <a:r>
              <a:t>WiLI-2018 dataset, ODbL: https://doi.org/10.5281/zenodo.841984</a:t>
            </a:r>
          </a:p>
          <a:p xmlns:a="http://schemas.openxmlformats.org/drawingml/2006/main">
            <a:r>
              <a:t>scikit-learn: LinearSVC: https://scikit-learn.org/stable/modules/generated/sklearn.svm.LinearSVC.html</a:t>
            </a:r>
          </a:p>
          <a:p xmlns:a="http://schemas.openxmlformats.org/drawingml/2006/main">
            <a:r>
              <a:t>Live demo: linguaroute-dhruv.vercel.app: https://linguaroute-dhruv.vercel.app</a:t>
            </a:r>
          </a:p>
          <a:p xmlns:a="http://schemas.openxmlformats.org/drawingml/2006/main">
            <a:r>
              <a:t>Source code: github.com/dhruvpaleja/linguaroute-nlp: https://github.com/dhruvpaleja/linguaroute-nlp</a:t>
            </a:r>
          </a:p>
          <a:p xmlns:a="http://schemas.openxmlformats.org/drawingml/2006/main">
            <a:r>
              <a:t>Project source: linguaroute/README.md</a:t>
            </a:r>
          </a:p>
          <a:p xmlns:a="http://schemas.openxmlformats.org/drawingml/2006/main">
            <a:r>
              <a:t>Measured results: linguaroute/public/model/metrics.json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Thoma (2018), WiLI benchmark dataset: https://arxiv.org/abs/1801.07779</a:t>
            </a:r>
          </a:p>
          <a:p xmlns:a="http://schemas.openxmlformats.org/drawingml/2006/main">
            <a:r>
              <a:t>WiLI-2018 dataset, ODbL: https://doi.org/10.5281/zenodo.841984</a:t>
            </a:r>
          </a:p>
          <a:p xmlns:a="http://schemas.openxmlformats.org/drawingml/2006/main">
            <a:r>
              <a:t>scikit-learn: LinearSVC: https://scikit-learn.org/stable/modules/generated/sklearn.svm.LinearSVC.html</a:t>
            </a:r>
          </a:p>
          <a:p xmlns:a="http://schemas.openxmlformats.org/drawingml/2006/main">
            <a:r>
              <a:t>Live demo: linguaroute-dhruv.vercel.app: https://linguaroute-dhruv.vercel.app</a:t>
            </a:r>
          </a:p>
          <a:p xmlns:a="http://schemas.openxmlformats.org/drawingml/2006/main">
            <a:r>
              <a:t>Source code: github.com/dhruvpaleja/linguaroute-nlp: https://github.com/dhruvpaleja/linguaroute-nlp</a:t>
            </a:r>
          </a:p>
          <a:p xmlns:a="http://schemas.openxmlformats.org/drawingml/2006/main">
            <a:r>
              <a:t>Project source: linguaroute/README.md</a:t>
            </a:r>
          </a:p>
          <a:p xmlns:a="http://schemas.openxmlformats.org/drawingml/2006/main">
            <a:r>
              <a:t>Measured results: linguaroute/public/model/metrics.json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Thoma (2018), WiLI benchmark dataset: https://arxiv.org/abs/1801.07779</a:t>
            </a:r>
          </a:p>
          <a:p xmlns:a="http://schemas.openxmlformats.org/drawingml/2006/main">
            <a:r>
              <a:t>WiLI-2018 dataset, ODbL: https://doi.org/10.5281/zenodo.841984</a:t>
            </a:r>
          </a:p>
          <a:p xmlns:a="http://schemas.openxmlformats.org/drawingml/2006/main">
            <a:r>
              <a:t>scikit-learn: LinearSVC: https://scikit-learn.org/stable/modules/generated/sklearn.svm.LinearSVC.html</a:t>
            </a:r>
          </a:p>
          <a:p xmlns:a="http://schemas.openxmlformats.org/drawingml/2006/main">
            <a:r>
              <a:t>Live demo: linguaroute-dhruv.vercel.app: https://linguaroute-dhruv.vercel.app</a:t>
            </a:r>
          </a:p>
          <a:p xmlns:a="http://schemas.openxmlformats.org/drawingml/2006/main">
            <a:r>
              <a:t>Source code: github.com/dhruvpaleja/linguaroute-nlp: https://github.com/dhruvpaleja/linguaroute-nlp</a:t>
            </a:r>
          </a:p>
          <a:p xmlns:a="http://schemas.openxmlformats.org/drawingml/2006/main">
            <a:r>
              <a:t>Project source: linguaroute/README.md</a:t>
            </a:r>
          </a:p>
          <a:p xmlns:a="http://schemas.openxmlformats.org/drawingml/2006/main">
            <a:r>
              <a:t>Measured results: linguaroute/public/model/metrics.json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Thoma (2018), WiLI benchmark dataset: https://arxiv.org/abs/1801.07779</a:t>
            </a:r>
          </a:p>
          <a:p xmlns:a="http://schemas.openxmlformats.org/drawingml/2006/main">
            <a:r>
              <a:t>WiLI-2018 dataset, ODbL: https://doi.org/10.5281/zenodo.841984</a:t>
            </a:r>
          </a:p>
          <a:p xmlns:a="http://schemas.openxmlformats.org/drawingml/2006/main">
            <a:r>
              <a:t>scikit-learn: LinearSVC: https://scikit-learn.org/stable/modules/generated/sklearn.svm.LinearSVC.html</a:t>
            </a:r>
          </a:p>
          <a:p xmlns:a="http://schemas.openxmlformats.org/drawingml/2006/main">
            <a:r>
              <a:t>Live demo: linguaroute-dhruv.vercel.app: https://linguaroute-dhruv.vercel.app</a:t>
            </a:r>
          </a:p>
          <a:p xmlns:a="http://schemas.openxmlformats.org/drawingml/2006/main">
            <a:r>
              <a:t>Source code: github.com/dhruvpaleja/linguaroute-nlp: https://github.com/dhruvpaleja/linguaroute-nlp</a:t>
            </a:r>
          </a:p>
          <a:p xmlns:a="http://schemas.openxmlformats.org/drawingml/2006/main">
            <a:r>
              <a:t>Project source: linguaroute/README.md</a:t>
            </a:r>
          </a:p>
          <a:p xmlns:a="http://schemas.openxmlformats.org/drawingml/2006/main">
            <a:r>
              <a:t>Measured results: linguaroute/public/model/metrics.json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 illustrates the application workflow. Exact output depends on the entered text and selected review choices.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Thoma (2018), WiLI benchmark dataset: https://arxiv.org/abs/1801.07779</a:t>
            </a:r>
          </a:p>
          <a:p xmlns:a="http://schemas.openxmlformats.org/drawingml/2006/main">
            <a:r>
              <a:t>WiLI-2018 dataset, ODbL: https://doi.org/10.5281/zenodo.841984</a:t>
            </a:r>
          </a:p>
          <a:p xmlns:a="http://schemas.openxmlformats.org/drawingml/2006/main">
            <a:r>
              <a:t>scikit-learn: LinearSVC: https://scikit-learn.org/stable/modules/generated/sklearn.svm.LinearSVC.html</a:t>
            </a:r>
          </a:p>
          <a:p xmlns:a="http://schemas.openxmlformats.org/drawingml/2006/main">
            <a:r>
              <a:t>Live demo: linguaroute-dhruv.vercel.app: https://linguaroute-dhruv.vercel.app</a:t>
            </a:r>
          </a:p>
          <a:p xmlns:a="http://schemas.openxmlformats.org/drawingml/2006/main">
            <a:r>
              <a:t>Source code: github.com/dhruvpaleja/linguaroute-nlp: https://github.com/dhruvpaleja/linguaroute-nlp</a:t>
            </a:r>
          </a:p>
          <a:p xmlns:a="http://schemas.openxmlformats.org/drawingml/2006/main">
            <a:r>
              <a:t>Project source: linguaroute/README.md</a:t>
            </a:r>
          </a:p>
          <a:p xmlns:a="http://schemas.openxmlformats.org/drawingml/2006/main">
            <a:r>
              <a:t>Measured results: linguaroute/public/model/metrics.json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authored diagnostics or implementation checks as general real-world model accuracy.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Thoma (2018), WiLI benchmark dataset: https://arxiv.org/abs/1801.07779</a:t>
            </a:r>
          </a:p>
          <a:p xmlns:a="http://schemas.openxmlformats.org/drawingml/2006/main">
            <a:r>
              <a:t>WiLI-2018 dataset, ODbL: https://doi.org/10.5281/zenodo.841984</a:t>
            </a:r>
          </a:p>
          <a:p xmlns:a="http://schemas.openxmlformats.org/drawingml/2006/main">
            <a:r>
              <a:t>scikit-learn: LinearSVC: https://scikit-learn.org/stable/modules/generated/sklearn.svm.LinearSVC.html</a:t>
            </a:r>
          </a:p>
          <a:p xmlns:a="http://schemas.openxmlformats.org/drawingml/2006/main">
            <a:r>
              <a:t>Live demo: linguaroute-dhruv.vercel.app: https://linguaroute-dhruv.vercel.app</a:t>
            </a:r>
          </a:p>
          <a:p xmlns:a="http://schemas.openxmlformats.org/drawingml/2006/main">
            <a:r>
              <a:t>Source code: github.com/dhruvpaleja/linguaroute-nlp: https://github.com/dhruvpaleja/linguaroute-nlp</a:t>
            </a:r>
          </a:p>
          <a:p xmlns:a="http://schemas.openxmlformats.org/drawingml/2006/main">
            <a:r>
              <a:t>Project source: linguaroute/README.md</a:t>
            </a:r>
          </a:p>
          <a:p xmlns:a="http://schemas.openxmlformats.org/drawingml/2006/main">
            <a:r>
              <a:t>Measured results: linguaroute/public/model/metrics.json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Thoma (2018), WiLI benchmark dataset: https://arxiv.org/abs/1801.07779</a:t>
            </a:r>
          </a:p>
          <a:p xmlns:a="http://schemas.openxmlformats.org/drawingml/2006/main">
            <a:r>
              <a:t>WiLI-2018 dataset, ODbL: https://doi.org/10.5281/zenodo.841984</a:t>
            </a:r>
          </a:p>
          <a:p xmlns:a="http://schemas.openxmlformats.org/drawingml/2006/main">
            <a:r>
              <a:t>scikit-learn: LinearSVC: https://scikit-learn.org/stable/modules/generated/sklearn.svm.LinearSVC.html</a:t>
            </a:r>
          </a:p>
          <a:p xmlns:a="http://schemas.openxmlformats.org/drawingml/2006/main">
            <a:r>
              <a:t>Live demo: linguaroute-dhruv.vercel.app: https://linguaroute-dhruv.vercel.app</a:t>
            </a:r>
          </a:p>
          <a:p xmlns:a="http://schemas.openxmlformats.org/drawingml/2006/main">
            <a:r>
              <a:t>Source code: github.com/dhruvpaleja/linguaroute-nlp: https://github.com/dhruvpaleja/linguaroute-nlp</a:t>
            </a:r>
          </a:p>
          <a:p xmlns:a="http://schemas.openxmlformats.org/drawingml/2006/main">
            <a:r>
              <a:t>Project source: linguaroute/README.md</a:t>
            </a:r>
          </a:p>
          <a:p xmlns:a="http://schemas.openxmlformats.org/drawingml/2006/main">
            <a:r>
              <a:t>Measured results: linguaroute/public/model/metrics.json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Thoma (2018), WiLI benchmark dataset: https://arxiv.org/abs/1801.07779</a:t>
            </a:r>
          </a:p>
          <a:p xmlns:a="http://schemas.openxmlformats.org/drawingml/2006/main">
            <a:r>
              <a:t>WiLI-2018 dataset, ODbL: https://doi.org/10.5281/zenodo.841984</a:t>
            </a:r>
          </a:p>
          <a:p xmlns:a="http://schemas.openxmlformats.org/drawingml/2006/main">
            <a:r>
              <a:t>scikit-learn: LinearSVC: https://scikit-learn.org/stable/modules/generated/sklearn.svm.LinearSVC.html</a:t>
            </a:r>
          </a:p>
          <a:p xmlns:a="http://schemas.openxmlformats.org/drawingml/2006/main">
            <a:r>
              <a:t>Live demo: linguaroute-dhruv.vercel.app: https://linguaroute-dhruv.vercel.app</a:t>
            </a:r>
          </a:p>
          <a:p xmlns:a="http://schemas.openxmlformats.org/drawingml/2006/main">
            <a:r>
              <a:t>Source code: github.com/dhruvpaleja/linguaroute-nlp: https://github.com/dhruvpaleja/linguaroute-nlp</a:t>
            </a:r>
          </a:p>
          <a:p xmlns:a="http://schemas.openxmlformats.org/drawingml/2006/main">
            <a:r>
              <a:t>Project source: linguaroute/README.md</a:t>
            </a:r>
          </a:p>
          <a:p xmlns:a="http://schemas.openxmlformats.org/drawingml/2006/main">
            <a:r>
              <a:t>Measured results: linguaroute/public/model/metrics.json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97e7d340849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beffa70b14f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cb1feea0742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a3a045bff47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95d3869cf45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f812c02df40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DE8C91-22CE-4DF2-BD62-89CD815DCB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2C8A33-F092-4A53-BC39-A7B9D1035A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6E7124-38EC-4D37-8439-A5EACCD9B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16B9A5-9289-4230-AEF4-E6A7952AE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BBD478-EBF7-4324-B156-963D4EBEB9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46C577-F9F4-4399-AC3B-5F3AB78ED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EE8755-BB75-40FC-BF62-38536CBB76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41C383-9A9B-43D2-BB6F-C01D63AE3C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5E0629-D55D-4C56-81AC-CA10A97726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5A19FC-86C2-4026-82EF-9136FA870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b90d7d2cf43ff" /><Relationship Type="http://schemas.openxmlformats.org/officeDocument/2006/relationships/slideLayout" Target="/ppt/slideLayouts/slideLayout1.xml" Id="Rec8da6e2d2fc4209" /><Relationship Type="http://schemas.openxmlformats.org/officeDocument/2006/relationships/slideLayout" Target="/ppt/slideLayouts/slideLayout2.xml" Id="R7ad1447ecaa14b78" /><Relationship Type="http://schemas.openxmlformats.org/officeDocument/2006/relationships/slideLayout" Target="/ppt/slideLayouts/slideLayout3.xml" Id="R94b78edeaa534ae3" /><Relationship Type="http://schemas.openxmlformats.org/officeDocument/2006/relationships/slideLayout" Target="/ppt/slideLayouts/slideLayout4.xml" Id="R2cf28cb44f9547d4" /><Relationship Type="http://schemas.openxmlformats.org/officeDocument/2006/relationships/slideLayout" Target="/ppt/slideLayouts/slideLayout5.xml" Id="R231e8015bf21410d" /><Relationship Type="http://schemas.openxmlformats.org/officeDocument/2006/relationships/slideLayout" Target="/ppt/slideLayouts/slideLayout6.xml" Id="Rb8d37490869b4d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8da6e2d2fc4209"/>
    <p:sldLayoutId xmlns:r="http://schemas.openxmlformats.org/officeDocument/2006/relationships" id="2147483650" r:id="R7ad1447ecaa14b78"/>
    <p:sldLayoutId xmlns:r="http://schemas.openxmlformats.org/officeDocument/2006/relationships" id="2147483651" r:id="R94b78edeaa534ae3"/>
    <p:sldLayoutId xmlns:r="http://schemas.openxmlformats.org/officeDocument/2006/relationships" id="2147483652" r:id="R2cf28cb44f9547d4"/>
    <p:sldLayoutId xmlns:r="http://schemas.openxmlformats.org/officeDocument/2006/relationships" id="2147483653" r:id="R231e8015bf21410d"/>
    <p:sldLayoutId xmlns:r="http://schemas.openxmlformats.org/officeDocument/2006/relationships" id="2147483654" r:id="Rb8d37490869b4d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1c76e53774875" /><Relationship Type="http://schemas.openxmlformats.org/officeDocument/2006/relationships/notesSlide" Target="/ppt/notesSlides/notesSlide1.xml" Id="R5c965be37dcf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35877aa354f89" /><Relationship Type="http://schemas.openxmlformats.org/officeDocument/2006/relationships/notesSlide" Target="/ppt/notesSlides/notesSlide2.xml" Id="Rcf30296e13e746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6075bbf463435f" /><Relationship Type="http://schemas.openxmlformats.org/officeDocument/2006/relationships/notesSlide" Target="/ppt/notesSlides/notesSlide3.xml" Id="Re00241e4f6e9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8180bce7a4bb9" /><Relationship Type="http://schemas.openxmlformats.org/officeDocument/2006/relationships/notesSlide" Target="/ppt/notesSlides/notesSlide4.xml" Id="Rc52bf0d686ef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216c3a5ae43a8" /><Relationship Type="http://schemas.openxmlformats.org/officeDocument/2006/relationships/notesSlide" Target="/ppt/notesSlides/notesSlide5.xml" Id="Ree9334f0a19245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04db247e04a73" /><Relationship Type="http://schemas.openxmlformats.org/officeDocument/2006/relationships/notesSlide" Target="/ppt/notesSlides/notesSlide6.xml" Id="R8852ce39b26e44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592bdf9884e64" /><Relationship Type="http://schemas.openxmlformats.org/officeDocument/2006/relationships/notesSlide" Target="/ppt/notesSlides/notesSlide7.xml" Id="R68cd2b7fa7aa41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27bf450ba4e01" /><Relationship Type="http://schemas.openxmlformats.org/officeDocument/2006/relationships/notesSlide" Target="/ppt/notesSlides/notesSlide8.xml" Id="Ra36c2b7883cc46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25FD9-5930-4AB6-ACEF-431BD2C9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LinguaRoute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83CE0-1D3E-43E2-93B1-2A53774D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Language identification for multilingual content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37863-9128-4469-9809-3CD3FA02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Natural Language Processing (702AI0C009)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7B88C-FEFC-47F0-BB32-70074770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I081 Dhruv Paleja  |  I053 Manan Shah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D0DCA-AB9C-493A-9192-926036DF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Faculty: Dr. Ami Munshi</a:t>
            </a:r>
          </a:p>
        </p:txBody>
      </p:sp>
    </p:spTree>
    <p:extLst>
      <p:ext uri="{BB962C8B-B14F-4D97-AF65-F5344CB8AC3E}">
        <p14:creationId xmlns:p14="http://schemas.microsoft.com/office/powerpoint/2010/main" val="1500446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D98CA-45A0-47B2-B0EF-EDC36CEF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A4ECE-C540-4445-84BC-83682436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A multilingual team receives text before it knows which language desk should handle it. Checking every paragraph manually is repetitive. A language suggestion can help a reviewer organize incoming content.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BA5F0-C5B8-4742-88D0-1173202A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382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Identify 18 supported written languages.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Show the nearest alternatives and useful character patterns.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Inspect language changes between sentences and export batch suggestions.</a:t>
            </a:r>
          </a:p>
        </p:txBody>
      </p:sp>
    </p:spTree>
    <p:extLst>
      <p:ext uri="{BB962C8B-B14F-4D97-AF65-F5344CB8AC3E}">
        <p14:creationId xmlns:p14="http://schemas.microsoft.com/office/powerpoint/2010/main" val="1640814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A5F01-8B2D-4F1C-AFF9-57F193C2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Data and 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5C391-FAB4-4D83-B577-DFEB3C84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54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77E47-2B11-4A3B-9D5C-EEB23C61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WiLI-2018, created by Martin Thoma, supplies labelled Wikipedia paragraphs. Eighteen languages are selected, with 500 original training and 500 test paragraphs per language. Several languages share a script, including Hindi/Marathi and the selected Latin-script languages.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3DF35-D664-4845-8DA1-78147A4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549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2F282-CC26-431C-BAF0-744A2B05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Exact normalized training/test overlaps and repeated training rows are removed. The cleaned training data is split 80/20 with stratification for validation. Vocabulary, weights and hyperparameter choices do not use test labels. Near-duplicates and article/topic overlap are not fully removed.</a:t>
            </a:r>
          </a:p>
        </p:txBody>
      </p:sp>
    </p:spTree>
    <p:extLst>
      <p:ext uri="{BB962C8B-B14F-4D97-AF65-F5344CB8AC3E}">
        <p14:creationId xmlns:p14="http://schemas.microsoft.com/office/powerpoint/2010/main" val="677712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A1BD7-0101-4E13-A7BD-660042BE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NLP methodology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F02BF-9DBC-418F-83F4-82169D0EA0C1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095750"/>
                <a:gridCol w="4333875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Technique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Normalize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NFC Unicode, lowercase, spaces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Preserve accents and script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Represent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Character 2-4 grams; TF-IDF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Capture recurring spelling patterns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Classify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Linear SVM; 18 language scores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Choose the leading candidate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Review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Length, score gap and coverage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Flag weak suggestions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Use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Sentence map; batch CSV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Support a human language desk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3C282-0ADF-48CD-A56D-E38C9A67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Supervised character TF-IDF and a linear support vector machine trained for this project. Multinomial Naive Bayes is the comparison baseline. No pretrained service or large language model is used.</a:t>
            </a:r>
          </a:p>
        </p:txBody>
      </p:sp>
    </p:spTree>
    <p:extLst>
      <p:ext uri="{BB962C8B-B14F-4D97-AF65-F5344CB8AC3E}">
        <p14:creationId xmlns:p14="http://schemas.microsoft.com/office/powerpoint/2010/main" val="1349534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3EFAD-B15F-4C9F-B6EA-36AD13C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Working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778CC-7F03-4C1E-B9F0-C2106B6E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668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Input: Our team would like more information about the international conference.</a:t>
            </a:r>
          </a:p>
          <a:p xmlns:a="http://schemas.openxmlformats.org/drawingml/2006/main">
            <a: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Output: English is the leading language suggestion. The app shows alternative languages, character patterns and a review status.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86F79-38CC-4C55-94EA-F08B4678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Review the interpretation before using or exporting the result.</a:t>
            </a:r>
          </a:p>
        </p:txBody>
      </p:sp>
    </p:spTree>
    <p:extLst>
      <p:ext uri="{BB962C8B-B14F-4D97-AF65-F5344CB8AC3E}">
        <p14:creationId xmlns:p14="http://schemas.microsoft.com/office/powerpoint/2010/main" val="46564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EBE66-07E3-43B7-837A-EB270B1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13B2-EE70-4B8F-9013-F4564E287E3C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095750"/>
                <a:gridCol w="4333875"/>
              </a:tblGrid>
              <a:tr h="1016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Naive Bayes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Linear SVM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97.54%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98.80%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0.9765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0.9881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FE65B-6824-4281-AFB0-EC69C8AF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9,000 held-out paragraphs; 18 languages. Clean training set: 8,975. These are paragraph benchmark results, not chat or unknown-language accuracy.</a:t>
            </a:r>
          </a:p>
        </p:txBody>
      </p:sp>
    </p:spTree>
    <p:extLst>
      <p:ext uri="{BB962C8B-B14F-4D97-AF65-F5344CB8AC3E}">
        <p14:creationId xmlns:p14="http://schemas.microsoft.com/office/powerpoint/2010/main" val="1245650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9E816-BCE0-4344-9867-91ACF168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345F1-FFD7-479C-B838-F1F7A619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382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Only 18 known languages are supported; unknown languages can still be assigned a label.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Wikipedia results do not establish performance on noisy chats or romanised Hindi.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The sentence map classifies segments separately; it is not token-level code-switch detection.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Short messages, shared words and mixed-language sentences can be ambiguous.</a:t>
            </a:r>
          </a:p>
        </p:txBody>
      </p:sp>
    </p:spTree>
    <p:extLst>
      <p:ext uri="{BB962C8B-B14F-4D97-AF65-F5344CB8AC3E}">
        <p14:creationId xmlns:p14="http://schemas.microsoft.com/office/powerpoint/2010/main" val="951462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64B10-C27E-4DF5-BB04-E0EFB2EF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Conclusion and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49CE4-5393-46A2-A8EC-10EDABA3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A compact language classifier can support a practical routing workflow while showing its alternatives and limitations. The next useful improvement is a separate evaluation on consented short messages and out-of-scope languages.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F5029-C54E-4D90-B036-84171D93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549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36032-60A4-4293-838D-8180733D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Thoma (2018), WiLI benchmark dataset</a:t>
            </a:r>
          </a:p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WiLI-2018 dataset, ODbL</a:t>
            </a:r>
          </a:p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scikit-learn: LinearSVC</a:t>
            </a:r>
          </a:p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Live demo: linguaroute-dhruv.vercel.app</a:t>
            </a:r>
          </a:p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Source code: github.com/dhruvpaleja/linguaroute-nlp</a:t>
            </a:r>
          </a:p>
        </p:txBody>
      </p:sp>
    </p:spTree>
    <p:extLst>
      <p:ext uri="{BB962C8B-B14F-4D97-AF65-F5344CB8AC3E}">
        <p14:creationId xmlns:p14="http://schemas.microsoft.com/office/powerpoint/2010/main" val="110094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2026-10-20T12:41:26.4710000Z</dcterms:created>
  <dcterms:modified xsi:type="dcterms:W3CDTF">2026-10-20T12:41:26.4710000Z</dcterms:modified>
</coreProperties>
</file>